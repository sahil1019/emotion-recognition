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39374-DA5B-4D69-A08A-55B4B747D836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EBBE7-EAF0-4792-B72B-75021D31F6C7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1043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39374-DA5B-4D69-A08A-55B4B747D836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EBBE7-EAF0-4792-B72B-75021D31F6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095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39374-DA5B-4D69-A08A-55B4B747D836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EBBE7-EAF0-4792-B72B-75021D31F6C7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515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39374-DA5B-4D69-A08A-55B4B747D836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EBBE7-EAF0-4792-B72B-75021D31F6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419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39374-DA5B-4D69-A08A-55B4B747D836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EBBE7-EAF0-4792-B72B-75021D31F6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183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39374-DA5B-4D69-A08A-55B4B747D836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EBBE7-EAF0-4792-B72B-75021D31F6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985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39374-DA5B-4D69-A08A-55B4B747D836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EBBE7-EAF0-4792-B72B-75021D31F6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271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E739374-DA5B-4D69-A08A-55B4B747D836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6EBBE7-EAF0-4792-B72B-75021D31F6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273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39374-DA5B-4D69-A08A-55B4B747D836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EBBE7-EAF0-4792-B72B-75021D31F6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675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39374-DA5B-4D69-A08A-55B4B747D836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EBBE7-EAF0-4792-B72B-75021D31F6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125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39374-DA5B-4D69-A08A-55B4B747D836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EBBE7-EAF0-4792-B72B-75021D31F6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042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E739374-DA5B-4D69-A08A-55B4B747D836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86EBBE7-EAF0-4792-B72B-75021D31F6C7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2272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52FA8-B5CE-8A9B-B39D-B65D76C57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9168"/>
            <a:ext cx="9144000" cy="485192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ConVAT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-Based Approach vs Implemented Method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3DBB1F-8A5E-24E1-C99E-995F6EC76D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56996"/>
            <a:ext cx="9144000" cy="5701003"/>
          </a:xfrm>
        </p:spPr>
        <p:txBody>
          <a:bodyPr>
            <a:normAutofit/>
          </a:bodyPr>
          <a:lstStyle/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92C5F96-A4F2-CEBA-D505-DC63E2AB9B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191807"/>
              </p:ext>
            </p:extLst>
          </p:nvPr>
        </p:nvGraphicFramePr>
        <p:xfrm>
          <a:off x="1455577" y="1156998"/>
          <a:ext cx="9212424" cy="5001205"/>
        </p:xfrm>
        <a:graphic>
          <a:graphicData uri="http://schemas.openxmlformats.org/drawingml/2006/table">
            <a:tbl>
              <a:tblPr/>
              <a:tblGrid>
                <a:gridCol w="3070808">
                  <a:extLst>
                    <a:ext uri="{9D8B030D-6E8A-4147-A177-3AD203B41FA5}">
                      <a16:colId xmlns:a16="http://schemas.microsoft.com/office/drawing/2014/main" val="4060050538"/>
                    </a:ext>
                  </a:extLst>
                </a:gridCol>
                <a:gridCol w="3070808">
                  <a:extLst>
                    <a:ext uri="{9D8B030D-6E8A-4147-A177-3AD203B41FA5}">
                      <a16:colId xmlns:a16="http://schemas.microsoft.com/office/drawing/2014/main" val="3272962405"/>
                    </a:ext>
                  </a:extLst>
                </a:gridCol>
                <a:gridCol w="3070808">
                  <a:extLst>
                    <a:ext uri="{9D8B030D-6E8A-4147-A177-3AD203B41FA5}">
                      <a16:colId xmlns:a16="http://schemas.microsoft.com/office/drawing/2014/main" val="1313770319"/>
                    </a:ext>
                  </a:extLst>
                </a:gridCol>
              </a:tblGrid>
              <a:tr h="375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Aspect</a:t>
                      </a:r>
                      <a:endParaRPr lang="en-IN" sz="13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ConVAT-Based Approach</a:t>
                      </a:r>
                      <a:endParaRPr lang="en-IN" sz="13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Implemented Method </a:t>
                      </a:r>
                      <a:endParaRPr lang="en-IN" sz="1300" dirty="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0065006"/>
                  </a:ext>
                </a:extLst>
              </a:tr>
              <a:tr h="375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Accuracy</a:t>
                      </a:r>
                      <a:endParaRPr lang="en-IN" sz="13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27%</a:t>
                      </a:r>
                      <a:endParaRPr lang="en-IN" sz="1300" dirty="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79.3%</a:t>
                      </a:r>
                      <a:endParaRPr lang="en-IN" sz="13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884621"/>
                  </a:ext>
                </a:extLst>
              </a:tr>
              <a:tr h="375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Fusion Strategy</a:t>
                      </a:r>
                      <a:endParaRPr lang="en-IN" sz="13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Late fusion (Attention-based)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Early feature-level fusion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655005"/>
                  </a:ext>
                </a:extLst>
              </a:tr>
              <a:tr h="416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Feature Extraction</a:t>
                      </a:r>
                      <a:endParaRPr lang="en-IN" sz="13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Deep encoders (CNN + LSTM + Attention)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MFCCs, Facial landmarks, HRV stats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536103"/>
                  </a:ext>
                </a:extLst>
              </a:tr>
              <a:tr h="375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Feature Selection</a:t>
                      </a:r>
                      <a:endParaRPr lang="en-IN" sz="1300" dirty="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None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PCA / MI / RFE applied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634145"/>
                  </a:ext>
                </a:extLst>
              </a:tr>
              <a:tr h="375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Model Type</a:t>
                      </a:r>
                      <a:endParaRPr lang="en-IN" sz="13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Deep Learning (high complexity)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Random Forest (ensemble)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245269"/>
                  </a:ext>
                </a:extLst>
              </a:tr>
              <a:tr h="375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Dataset Requirement</a:t>
                      </a:r>
                      <a:endParaRPr lang="en-IN" sz="13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Large, aligned multimodal datasets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Works well on small/medium datasets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000137"/>
                  </a:ext>
                </a:extLst>
              </a:tr>
              <a:tr h="375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Overfitting</a:t>
                      </a:r>
                      <a:endParaRPr lang="en-IN" sz="13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High (small dataset problem)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Low (regularized + selected features)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54048"/>
                  </a:ext>
                </a:extLst>
              </a:tr>
              <a:tr h="416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Modality Alignment</a:t>
                      </a:r>
                      <a:endParaRPr lang="en-IN" sz="13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Sensitive to timing mismatch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Features fused after extraction → robust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846829"/>
                  </a:ext>
                </a:extLst>
              </a:tr>
              <a:tr h="375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Computational Cost</a:t>
                      </a:r>
                      <a:endParaRPr lang="en-IN" sz="13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High (GPU required)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Low (CPU friendly)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935178"/>
                  </a:ext>
                </a:extLst>
              </a:tr>
              <a:tr h="375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Physio Handling</a:t>
                      </a:r>
                      <a:endParaRPr lang="en-IN" sz="13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Raw sequences via LSTM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Cleaned, summarized HRV features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494503"/>
                  </a:ext>
                </a:extLst>
              </a:tr>
              <a:tr h="375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Interpretability</a:t>
                      </a:r>
                      <a:endParaRPr lang="en-IN" sz="13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Low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High (feature importance)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51101"/>
                  </a:ext>
                </a:extLst>
              </a:tr>
              <a:tr h="416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Performance on Our Dataset</a:t>
                      </a:r>
                      <a:endParaRPr lang="en-IN" sz="13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Poor due to noise &amp; size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Strong due to optimized fusion + selection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019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1022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AA90F-A39B-191C-E2FB-B35BBB7C9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56248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Implemented Method Outperformed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ConVAT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9436C5-B464-4B15-CF2B-C68356B320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3278607"/>
              </p:ext>
            </p:extLst>
          </p:nvPr>
        </p:nvGraphicFramePr>
        <p:xfrm>
          <a:off x="1203650" y="1026367"/>
          <a:ext cx="9265296" cy="5147258"/>
        </p:xfrm>
        <a:graphic>
          <a:graphicData uri="http://schemas.openxmlformats.org/drawingml/2006/table">
            <a:tbl>
              <a:tblPr/>
              <a:tblGrid>
                <a:gridCol w="3088432">
                  <a:extLst>
                    <a:ext uri="{9D8B030D-6E8A-4147-A177-3AD203B41FA5}">
                      <a16:colId xmlns:a16="http://schemas.microsoft.com/office/drawing/2014/main" val="2368969309"/>
                    </a:ext>
                  </a:extLst>
                </a:gridCol>
                <a:gridCol w="3088432">
                  <a:extLst>
                    <a:ext uri="{9D8B030D-6E8A-4147-A177-3AD203B41FA5}">
                      <a16:colId xmlns:a16="http://schemas.microsoft.com/office/drawing/2014/main" val="3859409268"/>
                    </a:ext>
                  </a:extLst>
                </a:gridCol>
                <a:gridCol w="3088432">
                  <a:extLst>
                    <a:ext uri="{9D8B030D-6E8A-4147-A177-3AD203B41FA5}">
                      <a16:colId xmlns:a16="http://schemas.microsoft.com/office/drawing/2014/main" val="443024217"/>
                    </a:ext>
                  </a:extLst>
                </a:gridCol>
              </a:tblGrid>
              <a:tr h="278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Factor</a:t>
                      </a:r>
                      <a:endParaRPr lang="en-IN" sz="1300"/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ConVAT-Based Approach (27%)</a:t>
                      </a:r>
                      <a:endParaRPr lang="en-IN" sz="1300"/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Proposed Method (79.3%)</a:t>
                      </a:r>
                      <a:endParaRPr lang="en-IN" sz="1300"/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136008"/>
                  </a:ext>
                </a:extLst>
              </a:tr>
              <a:tr h="487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Dataset Size Suitability</a:t>
                      </a:r>
                      <a:endParaRPr lang="en-IN" sz="1300"/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Requires large datasets → underperforms on small data</a:t>
                      </a:r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Works well with small datasets</a:t>
                      </a:r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858081"/>
                  </a:ext>
                </a:extLst>
              </a:tr>
              <a:tr h="487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Model Complexity</a:t>
                      </a:r>
                      <a:endParaRPr lang="en-IN" sz="1300"/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High (CNN + LSTM + Attention) → overfits</a:t>
                      </a:r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Low/medium complexity → generalizes better</a:t>
                      </a:r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312101"/>
                  </a:ext>
                </a:extLst>
              </a:tr>
              <a:tr h="487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Feature Quality</a:t>
                      </a:r>
                      <a:endParaRPr lang="en-IN" sz="1300"/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Raw deep embeddings → noisy, high variance</a:t>
                      </a:r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Clean MFCCs + landmarks + HRV stats</a:t>
                      </a:r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0668819"/>
                  </a:ext>
                </a:extLst>
              </a:tr>
              <a:tr h="487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Feature Selection</a:t>
                      </a:r>
                      <a:endParaRPr lang="en-IN" sz="1300"/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None (full embeddings used)</a:t>
                      </a:r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PCA/MI/RFE removes noise &amp; redundant features</a:t>
                      </a:r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767249"/>
                  </a:ext>
                </a:extLst>
              </a:tr>
              <a:tr h="487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Fusion Strategy</a:t>
                      </a:r>
                      <a:endParaRPr lang="en-IN" sz="1300"/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Late fusion → unstable with noisy modalities</a:t>
                      </a:r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Early fusion → stable and consistent</a:t>
                      </a:r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050127"/>
                  </a:ext>
                </a:extLst>
              </a:tr>
              <a:tr h="487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Physiological Data Handling</a:t>
                      </a:r>
                      <a:endParaRPr lang="en-IN" sz="1300"/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LSTM expects long sequences → mismatch</a:t>
                      </a:r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Statistical HRV features match dataset</a:t>
                      </a:r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081829"/>
                  </a:ext>
                </a:extLst>
              </a:tr>
              <a:tr h="487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Modality Alignment</a:t>
                      </a:r>
                      <a:endParaRPr lang="en-IN" sz="1300"/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Sensitive to time misalignment</a:t>
                      </a:r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Fusion after preprocessing → alignment irrelevant</a:t>
                      </a:r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735785"/>
                  </a:ext>
                </a:extLst>
              </a:tr>
              <a:tr h="278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Overfitting Risk</a:t>
                      </a:r>
                      <a:endParaRPr lang="en-IN" sz="1300"/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Very high on limited data</a:t>
                      </a:r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Very low due to ensemble RF</a:t>
                      </a:r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4540380"/>
                  </a:ext>
                </a:extLst>
              </a:tr>
              <a:tr h="278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Compute Requirements</a:t>
                      </a:r>
                      <a:endParaRPr lang="en-IN" sz="1300"/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High, needs GPU for tuning</a:t>
                      </a:r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Lightweight, trains well on CPU</a:t>
                      </a:r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536495"/>
                  </a:ext>
                </a:extLst>
              </a:tr>
              <a:tr h="451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Interpretability</a:t>
                      </a:r>
                      <a:endParaRPr lang="en-IN" sz="1300"/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Low (attention weights hard to analyze)</a:t>
                      </a:r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High (RF feature importance)</a:t>
                      </a:r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885242"/>
                  </a:ext>
                </a:extLst>
              </a:tr>
              <a:tr h="451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Robustness</a:t>
                      </a:r>
                      <a:endParaRPr lang="en-IN" sz="1300"/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Drops sharply with noise or imbalance</a:t>
                      </a:r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Robust to heterogeneous feature types</a:t>
                      </a:r>
                    </a:p>
                  </a:txBody>
                  <a:tcPr marL="66929" marR="66929" marT="33465" marB="33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889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620601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</TotalTime>
  <Words>335</Words>
  <Application>Microsoft Office PowerPoint</Application>
  <PresentationFormat>Widescreen</PresentationFormat>
  <Paragraphs>77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Calibri</vt:lpstr>
      <vt:lpstr>Calibri Light</vt:lpstr>
      <vt:lpstr>Times New Roman</vt:lpstr>
      <vt:lpstr>Retrospect</vt:lpstr>
      <vt:lpstr>Comparison of ConVAT-Based Approach vs Implemented Method</vt:lpstr>
      <vt:lpstr>Why Implemented Method Outperformed ConVAT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3</cp:revision>
  <dcterms:created xsi:type="dcterms:W3CDTF">2025-11-17T07:38:46Z</dcterms:created>
  <dcterms:modified xsi:type="dcterms:W3CDTF">2025-11-17T07:54:19Z</dcterms:modified>
</cp:coreProperties>
</file>