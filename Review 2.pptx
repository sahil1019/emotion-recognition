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4:51:24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03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211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4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69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156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43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1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34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280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90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32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746B2-4039-4E82-81A0-943798D1A4A5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D5D978B-9532-418B-8769-4D9DA7446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2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A652-837D-9758-18CB-4DE2BC1E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4371E-F64D-426D-46EF-55573755F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492898"/>
            <a:ext cx="9603275" cy="397344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RAVDESS – Ryerson Audio-Visual Database of Emotional Speech</a:t>
            </a:r>
          </a:p>
          <a:p>
            <a:r>
              <a:rPr lang="fr-FR" sz="1400" dirty="0"/>
              <a:t>Facial Micro-Expression </a:t>
            </a:r>
            <a:r>
              <a:rPr lang="fr-FR" sz="1400" dirty="0" err="1"/>
              <a:t>Dataset</a:t>
            </a:r>
            <a:r>
              <a:rPr lang="fr-FR" sz="1400" dirty="0"/>
              <a:t>: </a:t>
            </a:r>
            <a:r>
              <a:rPr lang="fr-FR" sz="1400" i="1" dirty="0"/>
              <a:t>CAS(ME)²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/>
              <a:t>Physiological Emotion Dataset (Heart-Rate Based)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42CBD-0845-7BCD-12D8-9D91F2514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18" y="2646730"/>
            <a:ext cx="6920435" cy="271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4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2FCEC-0105-A93B-5A7D-36A3F0986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237" y="802299"/>
            <a:ext cx="9580615" cy="79323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METHODOLOGY (System Architecture)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ACEC3-7D9A-CFC8-82E6-01740CC35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6873" y="1707502"/>
            <a:ext cx="7528725" cy="4049486"/>
          </a:xfrm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49CC3F0-DA30-463A-B978-21F41B7C9FDD}"/>
                  </a:ext>
                </a:extLst>
              </p14:cNvPr>
              <p14:cNvContentPartPr/>
              <p14:nvPr/>
            </p14:nvContentPartPr>
            <p14:xfrm>
              <a:off x="-961472" y="190295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49CC3F0-DA30-463A-B978-21F41B7C9F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967592" y="1896833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2F1AEBC-A056-915E-C8E6-FEFF03E391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873" y="1707502"/>
            <a:ext cx="7529805" cy="40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1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46C2-92BB-710B-87E8-B391CF1D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163B1C-082F-2B41-478E-3F45FC634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727091"/>
              </p:ext>
            </p:extLst>
          </p:nvPr>
        </p:nvGraphicFramePr>
        <p:xfrm>
          <a:off x="1130300" y="1586203"/>
          <a:ext cx="8573536" cy="4018014"/>
        </p:xfrm>
        <a:graphic>
          <a:graphicData uri="http://schemas.openxmlformats.org/drawingml/2006/table">
            <a:tbl>
              <a:tblPr/>
              <a:tblGrid>
                <a:gridCol w="2143384">
                  <a:extLst>
                    <a:ext uri="{9D8B030D-6E8A-4147-A177-3AD203B41FA5}">
                      <a16:colId xmlns:a16="http://schemas.microsoft.com/office/drawing/2014/main" val="2149778266"/>
                    </a:ext>
                  </a:extLst>
                </a:gridCol>
                <a:gridCol w="2143384">
                  <a:extLst>
                    <a:ext uri="{9D8B030D-6E8A-4147-A177-3AD203B41FA5}">
                      <a16:colId xmlns:a16="http://schemas.microsoft.com/office/drawing/2014/main" val="2010977910"/>
                    </a:ext>
                  </a:extLst>
                </a:gridCol>
                <a:gridCol w="2143384">
                  <a:extLst>
                    <a:ext uri="{9D8B030D-6E8A-4147-A177-3AD203B41FA5}">
                      <a16:colId xmlns:a16="http://schemas.microsoft.com/office/drawing/2014/main" val="1895893153"/>
                    </a:ext>
                  </a:extLst>
                </a:gridCol>
                <a:gridCol w="2143384">
                  <a:extLst>
                    <a:ext uri="{9D8B030D-6E8A-4147-A177-3AD203B41FA5}">
                      <a16:colId xmlns:a16="http://schemas.microsoft.com/office/drawing/2014/main" val="3521862268"/>
                    </a:ext>
                  </a:extLst>
                </a:gridCol>
              </a:tblGrid>
              <a:tr h="60688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Model / Modality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Weighted 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Remarks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23134"/>
                  </a:ext>
                </a:extLst>
              </a:tr>
              <a:tr h="72973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Audio (MFCC features)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63.4 %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Captures tone &amp; pitch variations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746246"/>
                  </a:ext>
                </a:extLst>
              </a:tr>
              <a:tr h="72973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Facial (CAS(ME)² features)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68.2 %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Strong for visible emotions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24965"/>
                  </a:ext>
                </a:extLst>
              </a:tr>
              <a:tr h="72973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Physiological (Heart-rate CSV)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55.7 %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Limited signal diversity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357070"/>
                  </a:ext>
                </a:extLst>
              </a:tr>
              <a:tr h="11270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Multimodal Fusion 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79.3 %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0.78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Best performance after feature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77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57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6E13-44FF-7D2E-291E-E056A4EA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1688841"/>
            <a:ext cx="9603275" cy="8677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E6CA8E-5DF8-6EF4-663D-87E0AFEBC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3039560"/>
            <a:ext cx="1059831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Performance: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current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deployment processes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work in my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Signal Quality: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Heart-rate data collected from different sensors show inconsistency, limiting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Imbalance: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emotions (e.g.,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disgust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have fewer samples in RAVDESS and CAS(ME)², slightly biasing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94306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3871-913A-EB65-07F7-A4A5FF92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1101012"/>
            <a:ext cx="9603275" cy="8304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32418F-E8C8-FC9F-6E82-11773FD3C8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2159295"/>
            <a:ext cx="836829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Multimodal Streaming: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continuous webcam + microphone input with on-device inference (using TensorFlow Lite or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Mobile).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Fusion: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Random Forest with a hybrid deep model (CNN–LSTM or Transformer) for temporal sequence modeling and attention-based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Weight Fusion: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attention mechanisms or late fusion (decision-level) to weight modalities based on confidence or signal quality.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400" b="1" dirty="0"/>
              <a:t>Expand Physiological Modalities:</a:t>
            </a:r>
            <a:br>
              <a:rPr lang="en-US" sz="1400" dirty="0"/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biosignals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GSR, EEG, or respiration for richer affective state estimation.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765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145</TotalTime>
  <Words>255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Times New Roman</vt:lpstr>
      <vt:lpstr>Gallery</vt:lpstr>
      <vt:lpstr>DATASETS USED</vt:lpstr>
      <vt:lpstr>IMPLEMENTED METHODOLOGY (System Architecture)</vt:lpstr>
      <vt:lpstr>RESULTS</vt:lpstr>
      <vt:lpstr>Limitations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21</cp:revision>
  <dcterms:created xsi:type="dcterms:W3CDTF">2025-11-06T04:56:27Z</dcterms:created>
  <dcterms:modified xsi:type="dcterms:W3CDTF">2025-11-17T08:00:47Z</dcterms:modified>
</cp:coreProperties>
</file>